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</a:defRPr>
            </a:pPr>
            <a:r>
              <a:t>CADOC 6209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93C5FD"/>
                </a:solidFill>
              </a:defRPr>
            </a:pPr>
            <a:r>
              <a:t>Conformidade BACEN para Pagamentos de Varejo</a:t>
            </a:r>
            <a:br/>
            <a:r>
              <a:t> e Canais de Atendimento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3C5FD"/>
                </a:solidFill>
              </a:defRPr>
            </a:pPr>
            <a:r>
              <a:t>IN BCB nº 335/2022 | IN BCB nº 622/2025 | Leiaute v2.0.4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Apresentação Comercial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O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</a:defRPr>
            </a:pPr>
            <a:r>
              <a:t>📊  Processo manual em planilhas → erro e retrabalho</a:t>
            </a:r>
          </a:p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</a:defRPr>
            </a:pPr>
            <a:r>
              <a:t>📅  Layout muda sem aviso (IN BCB 622/2025)</a:t>
            </a:r>
          </a:p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</a:defRPr>
            </a:pPr>
            <a:r>
              <a:t>⏰  Prazo trimestral apertado</a:t>
            </a:r>
          </a:p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</a:defRPr>
            </a:pPr>
            <a:r>
              <a:t>⚠  Multa por dados incorretos ou atraso</a:t>
            </a:r>
          </a:p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</a:defRPr>
            </a:pPr>
            <a:r>
              <a:t>🙇  Departamento de compliance sobrecarregado</a:t>
            </a:r>
          </a:p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</a:defRPr>
            </a:pPr>
            <a:r>
              <a:t>💰  Custo oculto: horas de analista alocadas manualmente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Nossa Solução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56DB"/>
                </a:solidFill>
              </a:defRPr>
            </a:pPr>
            <a:r>
              <a:t>🔵  Plano Manual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11827"/>
                </a:solidFill>
              </a:defRPr>
            </a:pPr>
            <a:r>
              <a:t>Interface web para inserção dos dados</a:t>
            </a:r>
          </a:p>
          <a:p>
            <a:pPr>
              <a:spcAft>
                <a:spcPts val="800"/>
              </a:spcAft>
              <a:defRPr sz="1600">
                <a:solidFill>
                  <a:srgbClr val="111827"/>
                </a:solidFill>
              </a:defRPr>
            </a:pPr>
            <a:r>
              <a:t>Validação automática conforme layout</a:t>
            </a:r>
          </a:p>
          <a:p>
            <a:pPr>
              <a:spcAft>
                <a:spcPts val="800"/>
              </a:spcAft>
              <a:defRPr sz="1600">
                <a:solidFill>
                  <a:srgbClr val="111827"/>
                </a:solidFill>
              </a:defRPr>
            </a:pPr>
            <a:r>
              <a:t>Geração dos 7 arquivos .txt</a:t>
            </a:r>
          </a:p>
          <a:p>
            <a:pPr>
              <a:spcAft>
                <a:spcPts val="800"/>
              </a:spcAft>
              <a:defRPr sz="1600">
                <a:solidFill>
                  <a:srgbClr val="111827"/>
                </a:solidFill>
              </a:defRPr>
            </a:pPr>
            <a:r>
              <a:t>Dashboard de acompanhamento</a:t>
            </a:r>
          </a:p>
          <a:p>
            <a:pPr>
              <a:spcAft>
                <a:spcPts val="800"/>
              </a:spcAft>
              <a:defRPr sz="1600">
                <a:solidFill>
                  <a:srgbClr val="111827"/>
                </a:solidFill>
              </a:defRPr>
            </a:pPr>
            <a:r>
              <a:t>Suporte por email e chat</a:t>
            </a:r>
          </a:p>
          <a:p>
            <a:pPr>
              <a:spcAft>
                <a:spcPts val="800"/>
              </a:spcAft>
              <a:defRPr sz="1600">
                <a:solidFill>
                  <a:srgbClr val="111827"/>
                </a:solidFill>
              </a:defRPr>
            </a:pPr>
            <a:r>
              <a:t>R$ 997/mês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645920"/>
            <a:ext cx="5029200" cy="4572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8288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E9F6E"/>
                </a:solidFill>
              </a:defRPr>
            </a:pPr>
            <a:r>
              <a:t>🟢  Plano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56032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11827"/>
                </a:solidFill>
              </a:defRPr>
            </a:pPr>
            <a:r>
              <a:t>Tudo do plano Manual</a:t>
            </a:r>
          </a:p>
          <a:p>
            <a:pPr>
              <a:spcAft>
                <a:spcPts val="800"/>
              </a:spcAft>
              <a:defRPr sz="1600">
                <a:solidFill>
                  <a:srgbClr val="111827"/>
                </a:solidFill>
              </a:defRPr>
            </a:pPr>
            <a:r>
              <a:t>Equipe alocada para automatizar</a:t>
            </a:r>
          </a:p>
          <a:p>
            <a:pPr>
              <a:spcAft>
                <a:spcPts val="800"/>
              </a:spcAft>
              <a:defRPr sz="1600">
                <a:solidFill>
                  <a:srgbClr val="111827"/>
                </a:solidFill>
              </a:defRPr>
            </a:pPr>
            <a:r>
              <a:t>Integração com core bancário e APIs</a:t>
            </a:r>
          </a:p>
          <a:p>
            <a:pPr>
              <a:spcAft>
                <a:spcPts val="800"/>
              </a:spcAft>
              <a:defRPr sz="1600">
                <a:solidFill>
                  <a:srgbClr val="111827"/>
                </a:solidFill>
              </a:defRPr>
            </a:pPr>
            <a:r>
              <a:t>Importação de planilhas e CSVs</a:t>
            </a:r>
          </a:p>
          <a:p>
            <a:pPr>
              <a:spcAft>
                <a:spcPts val="800"/>
              </a:spcAft>
              <a:defRPr sz="1600">
                <a:solidFill>
                  <a:srgbClr val="111827"/>
                </a:solidFill>
              </a:defRPr>
            </a:pPr>
            <a:r>
              <a:t>Gerente de conta dedicado</a:t>
            </a:r>
          </a:p>
          <a:p>
            <a:pPr>
              <a:spcAft>
                <a:spcPts val="800"/>
              </a:spcAft>
              <a:defRPr sz="1600">
                <a:solidFill>
                  <a:srgbClr val="111827"/>
                </a:solidFill>
              </a:defRPr>
            </a:pPr>
            <a:r>
              <a:t>R$ 4.997/mês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E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Diferenciais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11827"/>
                </a:solidFill>
              </a:defRPr>
            </a:pPr>
            <a:r>
              <a:t>✅  Atualização automática quando o BACEN altera o layout</a:t>
            </a:r>
          </a:p>
          <a:p>
            <a:pPr>
              <a:spcAft>
                <a:spcPts val="800"/>
              </a:spcAft>
              <a:defRPr sz="1800">
                <a:solidFill>
                  <a:srgbClr val="111827"/>
                </a:solidFill>
              </a:defRPr>
            </a:pPr>
            <a:r>
              <a:t>✅  Validação cruzada entre fontes de dados (CNPJ, tabelas, campos obrigatórios)</a:t>
            </a:r>
          </a:p>
          <a:p>
            <a:pPr>
              <a:spcAft>
                <a:spcPts val="800"/>
              </a:spcAft>
              <a:defRPr sz="1800">
                <a:solidFill>
                  <a:srgbClr val="111827"/>
                </a:solidFill>
              </a:defRPr>
            </a:pPr>
            <a:r>
              <a:t>✅  Hash SHA-256 para integridade dos arquivos gerados</a:t>
            </a:r>
          </a:p>
          <a:p>
            <a:pPr>
              <a:spcAft>
                <a:spcPts val="800"/>
              </a:spcAft>
              <a:defRPr sz="1800">
                <a:solidFill>
                  <a:srgbClr val="111827"/>
                </a:solidFill>
              </a:defRPr>
            </a:pPr>
            <a:r>
              <a:t>✅  Histórico completo de entregas com rastreabilidade</a:t>
            </a:r>
          </a:p>
          <a:p>
            <a:pPr>
              <a:spcAft>
                <a:spcPts val="800"/>
              </a:spcAft>
              <a:defRPr sz="1800">
                <a:solidFill>
                  <a:srgbClr val="111827"/>
                </a:solidFill>
              </a:defRPr>
            </a:pPr>
            <a:r>
              <a:t>✅  Suporte especializado em regulatório BACEN</a:t>
            </a:r>
          </a:p>
          <a:p>
            <a:pPr>
              <a:spcAft>
                <a:spcPts val="800"/>
              </a:spcAft>
              <a:defRPr sz="1800">
                <a:solidFill>
                  <a:srgbClr val="111827"/>
                </a:solidFill>
              </a:defRPr>
            </a:pPr>
            <a:r>
              <a:t>✅  Multi-tenant: todo o conglomerado em uma plataforma</a:t>
            </a:r>
          </a:p>
          <a:p>
            <a:pPr>
              <a:spcAft>
                <a:spcPts val="800"/>
              </a:spcAft>
              <a:defRPr sz="1800">
                <a:solidFill>
                  <a:srgbClr val="111827"/>
                </a:solidFill>
              </a:defRPr>
            </a:pPr>
            <a:r>
              <a:t>✅  100% cloud (SaaS) — sem instalação na sua infra</a:t>
            </a:r>
          </a:p>
          <a:p>
            <a:pPr>
              <a:spcAft>
                <a:spcPts val="800"/>
              </a:spcAft>
              <a:defRPr sz="1800">
                <a:solidFill>
                  <a:srgbClr val="111827"/>
                </a:solidFill>
              </a:defRPr>
            </a:pPr>
            <a:r>
              <a:t>✅  Trial gratuito de 15 dias sem compromisso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📅  Agendar demonstração de 20 minutos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🎁  Degustação gratuita por 15 dias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📋  Onboarding em até 48h (plano Manual)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🔧  Implementação em 15-45 dias (plano Automation)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"Chega de planilha. Chega de risco."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Compliance que funciona.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</a:defRPr>
            </a:pPr>
            <a:r>
              <a:t>contato@cadoc6209.com.br  |  (11) 9XXXX-XXXX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